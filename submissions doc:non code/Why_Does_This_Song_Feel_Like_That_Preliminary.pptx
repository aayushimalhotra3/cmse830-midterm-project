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ayushimalhotra3/cmse830-midterm-projec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57200"/>
            <a:ext cx="146304" cy="146304"/>
          </a:xfrm>
          <a:prstGeom prst="ellipse">
            <a:avLst/>
          </a:prstGeom>
          <a:solidFill>
            <a:srgbClr val="173B2A"/>
          </a:solidFill>
          <a:ln w="12700">
            <a:solidFill>
              <a:srgbClr val="173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56616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5" kern="0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CMSE 830   •   MIDTERM PROJECT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976104" y="411480"/>
            <a:ext cx="1536192" cy="429768"/>
          </a:xfrm>
          <a:prstGeom prst="roundRect">
            <a:avLst/>
          </a:prstGeom>
          <a:solidFill>
            <a:srgbClr val="FBFBF7"/>
          </a:solidFill>
          <a:ln w="12700">
            <a:solidFill>
              <a:srgbClr val="173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76688" y="48463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FALL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11018520" cy="0"/>
          </a:xfrm>
          <a:prstGeom prst="line">
            <a:avLst/>
          </a:prstGeom>
          <a:noFill/>
          <a:ln w="12700">
            <a:solidFill>
              <a:srgbClr val="C7D0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81328"/>
            <a:ext cx="7543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9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does this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676656" y="21945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3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song</a:t>
            </a:r>
            <a:endParaRPr lang="en-US" sz="5300" dirty="0"/>
          </a:p>
        </p:txBody>
      </p:sp>
      <p:sp>
        <p:nvSpPr>
          <p:cNvPr id="9" name="Shape 7"/>
          <p:cNvSpPr/>
          <p:nvPr/>
        </p:nvSpPr>
        <p:spPr>
          <a:xfrm>
            <a:off x="640080" y="3035808"/>
            <a:ext cx="7086600" cy="841248"/>
          </a:xfrm>
          <a:prstGeom prst="rect">
            <a:avLst/>
          </a:prstGeom>
          <a:solidFill>
            <a:srgbClr val="F2DC64"/>
          </a:solidFill>
          <a:ln w="2540">
            <a:solidFill>
              <a:srgbClr val="F2DC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17520"/>
            <a:ext cx="7406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i="1" dirty="0">
                <a:solidFill>
                  <a:srgbClr val="17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 like that?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713232" y="4379976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Explore the audio features behind the vibe —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3232" y="4773168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and find songs that match it.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13232" y="5522976"/>
            <a:ext cx="2221992" cy="301752"/>
          </a:xfrm>
          <a:prstGeom prst="roundRect">
            <a:avLst/>
          </a:prstGeom>
          <a:solidFill>
            <a:srgbClr val="FBF0BA"/>
          </a:solidFill>
          <a:ln w="7620">
            <a:solidFill>
              <a:srgbClr val="173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555498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28,356 UNIQUE SONGS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" y="619963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Aayushi Malhotra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67912" y="6227064"/>
            <a:ext cx="4069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Foundations of Data Science  •  Dr. Jie Hou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229600" y="1481328"/>
            <a:ext cx="3310128" cy="3310128"/>
          </a:xfrm>
          <a:prstGeom prst="ellipse">
            <a:avLst/>
          </a:prstGeom>
          <a:solidFill>
            <a:srgbClr val="173B2A"/>
          </a:solidFill>
          <a:ln w="12700">
            <a:solidFill>
              <a:srgbClr val="173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4192" y="1645920"/>
            <a:ext cx="2980944" cy="2980944"/>
          </a:xfrm>
          <a:prstGeom prst="ellipse">
            <a:avLst/>
          </a:prstGeom>
          <a:solidFill>
            <a:srgbClr val="173B2A"/>
          </a:solidFill>
          <a:ln w="12700">
            <a:solidFill>
              <a:srgbClr val="566B5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1847088"/>
            <a:ext cx="2578608" cy="2578608"/>
          </a:xfrm>
          <a:prstGeom prst="ellipse">
            <a:avLst/>
          </a:prstGeom>
          <a:solidFill>
            <a:srgbClr val="173B2A"/>
          </a:solidFill>
          <a:ln w="12700">
            <a:solidFill>
              <a:srgbClr val="3957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96528" y="2048256"/>
            <a:ext cx="2176272" cy="2176272"/>
          </a:xfrm>
          <a:prstGeom prst="ellipse">
            <a:avLst/>
          </a:prstGeom>
          <a:solidFill>
            <a:srgbClr val="173B2A"/>
          </a:solidFill>
          <a:ln w="12700">
            <a:solidFill>
              <a:srgbClr val="566B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61704" y="2313432"/>
            <a:ext cx="1645920" cy="1645920"/>
          </a:xfrm>
          <a:prstGeom prst="ellipse">
            <a:avLst/>
          </a:prstGeom>
          <a:solidFill>
            <a:srgbClr val="173B2A"/>
          </a:solidFill>
          <a:ln w="12700">
            <a:solidFill>
              <a:srgbClr val="3957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17736" y="2569464"/>
            <a:ext cx="1133856" cy="1133856"/>
          </a:xfrm>
          <a:prstGeom prst="ellipse">
            <a:avLst/>
          </a:prstGeom>
          <a:solidFill>
            <a:srgbClr val="F2DC64"/>
          </a:solidFill>
          <a:ln w="38100">
            <a:solidFill>
              <a:srgbClr val="FBFB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11512" y="3054096"/>
            <a:ext cx="146304" cy="146304"/>
          </a:xfrm>
          <a:prstGeom prst="ellipse">
            <a:avLst/>
          </a:prstGeom>
          <a:solidFill>
            <a:srgbClr val="173B2A"/>
          </a:solidFill>
          <a:ln w="12700">
            <a:solidFill>
              <a:srgbClr val="173B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83296" y="1536192"/>
            <a:ext cx="731520" cy="-502920"/>
          </a:xfrm>
          <a:prstGeom prst="line">
            <a:avLst/>
          </a:prstGeom>
          <a:noFill/>
          <a:ln w="22225">
            <a:solidFill>
              <a:srgbClr val="75897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96528" y="987552"/>
            <a:ext cx="118872" cy="118872"/>
          </a:xfrm>
          <a:prstGeom prst="ellipse">
            <a:avLst/>
          </a:prstGeom>
          <a:solidFill>
            <a:srgbClr val="E6634C"/>
          </a:solidFill>
          <a:ln w="12700">
            <a:solidFill>
              <a:srgbClr val="E663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55864" y="5093208"/>
            <a:ext cx="3447288" cy="649224"/>
          </a:xfrm>
          <a:prstGeom prst="roundRect">
            <a:avLst/>
          </a:prstGeom>
          <a:solidFill>
            <a:srgbClr val="FBFBF7"/>
          </a:solidFill>
          <a:ln w="13970">
            <a:solidFill>
              <a:srgbClr val="C7D0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528523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VALENCE  ×  ENERGY</a:t>
            </a:r>
            <a:endParaRPr lang="en-US" sz="1260" dirty="0"/>
          </a:p>
        </p:txBody>
      </p:sp>
      <p:sp>
        <p:nvSpPr>
          <p:cNvPr id="28" name="Shape 26"/>
          <p:cNvSpPr/>
          <p:nvPr/>
        </p:nvSpPr>
        <p:spPr>
          <a:xfrm>
            <a:off x="8293608" y="5971032"/>
            <a:ext cx="155448" cy="155448"/>
          </a:xfrm>
          <a:prstGeom prst="ellipse">
            <a:avLst/>
          </a:prstGeom>
          <a:solidFill>
            <a:srgbClr val="E6634C"/>
          </a:solidFill>
          <a:ln w="12700">
            <a:solidFill>
              <a:srgbClr val="E663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0" y="5971032"/>
            <a:ext cx="155448" cy="155448"/>
          </a:xfrm>
          <a:prstGeom prst="ellipse">
            <a:avLst/>
          </a:prstGeom>
          <a:solidFill>
            <a:srgbClr val="F2DC64"/>
          </a:solidFill>
          <a:ln w="12700">
            <a:solidFill>
              <a:srgbClr val="F2DC6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97112" y="5971032"/>
            <a:ext cx="155448" cy="155448"/>
          </a:xfrm>
          <a:prstGeom prst="ellipse">
            <a:avLst/>
          </a:prstGeom>
          <a:solidFill>
            <a:srgbClr val="62B1C3"/>
          </a:solidFill>
          <a:ln w="12700">
            <a:solidFill>
              <a:srgbClr val="62B1C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98864" y="5971032"/>
            <a:ext cx="155448" cy="155448"/>
          </a:xfrm>
          <a:prstGeom prst="ellipse">
            <a:avLst/>
          </a:prstGeom>
          <a:solidFill>
            <a:srgbClr val="8072BB"/>
          </a:solidFill>
          <a:ln w="12700">
            <a:solidFill>
              <a:srgbClr val="8072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92056" y="5943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FOUR WAYS TO FEEL A SONG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347472"/>
            <a:ext cx="118872" cy="118872"/>
          </a:xfrm>
          <a:prstGeom prst="ellipse">
            <a:avLst/>
          </a:prstGeom>
          <a:solidFill>
            <a:srgbClr val="173B2A"/>
          </a:solidFill>
          <a:ln w="12700">
            <a:solidFill>
              <a:srgbClr val="173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25603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CMSE 830   /   SPOTIFY MOOD EXPLORER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204704" y="219456"/>
            <a:ext cx="1417320" cy="402336"/>
          </a:xfrm>
          <a:prstGeom prst="roundRect">
            <a:avLst/>
          </a:prstGeom>
          <a:solidFill>
            <a:srgbClr val="FBFBF7"/>
          </a:solidFill>
          <a:ln w="13970">
            <a:solidFill>
              <a:srgbClr val="173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51008" y="265176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MIDTERM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5216" y="804672"/>
            <a:ext cx="11009376" cy="0"/>
          </a:xfrm>
          <a:prstGeom prst="line">
            <a:avLst/>
          </a:prstGeom>
          <a:noFill/>
          <a:ln w="12700">
            <a:solidFill>
              <a:srgbClr val="C7D0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332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 /  DATA PREP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261872"/>
            <a:ext cx="109910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playlist rows to music moods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0080" y="1810512"/>
            <a:ext cx="10881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decisions that made the later analysis easier to trust.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6446520"/>
            <a:ext cx="11009376" cy="0"/>
          </a:xfrm>
          <a:prstGeom prst="line">
            <a:avLst/>
          </a:prstGeom>
          <a:noFill/>
          <a:ln w="10160">
            <a:solidFill>
              <a:srgbClr val="C7D0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spc="30" kern="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DOES THIS SONG FEEL LIKE THAT?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10680192" y="650138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/ 05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" y="2276856"/>
            <a:ext cx="5230368" cy="3849624"/>
          </a:xfrm>
          <a:prstGeom prst="roundRect">
            <a:avLst/>
          </a:prstGeom>
          <a:solidFill>
            <a:srgbClr val="FBFBF7"/>
          </a:solidFill>
          <a:ln w="15240">
            <a:solidFill>
              <a:srgbClr val="173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276856"/>
            <a:ext cx="5440680" cy="3849624"/>
          </a:xfrm>
          <a:prstGeom prst="roundRect">
            <a:avLst/>
          </a:prstGeom>
          <a:solidFill>
            <a:srgbClr val="FBFBF7"/>
          </a:solidFill>
          <a:ln w="15240">
            <a:solidFill>
              <a:srgbClr val="173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" y="2514600"/>
            <a:ext cx="1545336" cy="301752"/>
          </a:xfrm>
          <a:prstGeom prst="roundRect">
            <a:avLst/>
          </a:prstGeom>
          <a:solidFill>
            <a:srgbClr val="FBF0BA"/>
          </a:solidFill>
          <a:ln w="7620">
            <a:solidFill>
              <a:srgbClr val="173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2546604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 •  CLEANING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6112" y="2953512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32,833</a:t>
            </a:r>
            <a:endParaRPr lang="en-US" sz="4100" dirty="0"/>
          </a:p>
        </p:txBody>
      </p:sp>
      <p:sp>
        <p:nvSpPr>
          <p:cNvPr id="18" name="Shape 16"/>
          <p:cNvSpPr/>
          <p:nvPr/>
        </p:nvSpPr>
        <p:spPr>
          <a:xfrm>
            <a:off x="3218688" y="3282696"/>
            <a:ext cx="365760" cy="0"/>
          </a:xfrm>
          <a:prstGeom prst="line">
            <a:avLst/>
          </a:prstGeom>
          <a:noFill/>
          <a:ln w="27940">
            <a:solidFill>
              <a:srgbClr val="173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3182112"/>
            <a:ext cx="109728" cy="100584"/>
          </a:xfrm>
          <a:prstGeom prst="line">
            <a:avLst/>
          </a:prstGeom>
          <a:noFill/>
          <a:ln w="27940">
            <a:solidFill>
              <a:srgbClr val="173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383280"/>
            <a:ext cx="109728" cy="-100584"/>
          </a:xfrm>
          <a:prstGeom prst="line">
            <a:avLst/>
          </a:prstGeom>
          <a:noFill/>
          <a:ln w="27940">
            <a:solidFill>
              <a:srgbClr val="173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5888" y="295351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28,356</a:t>
            </a:r>
            <a:endParaRPr lang="en-US" sz="3700" dirty="0"/>
          </a:p>
        </p:txBody>
      </p:sp>
      <p:sp>
        <p:nvSpPr>
          <p:cNvPr id="22" name="Text 20"/>
          <p:cNvSpPr/>
          <p:nvPr/>
        </p:nvSpPr>
        <p:spPr>
          <a:xfrm>
            <a:off x="932688" y="357530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rows in the CSV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21608" y="357530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unique songs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4069080"/>
            <a:ext cx="2825496" cy="502920"/>
          </a:xfrm>
          <a:prstGeom prst="roundRect">
            <a:avLst/>
          </a:prstGeom>
          <a:solidFill>
            <a:srgbClr val="FBF0BA"/>
          </a:solidFill>
          <a:ln w="3810">
            <a:solidFill>
              <a:srgbClr val="FBF0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418795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4,477 repeated track IDs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" y="4809744"/>
            <a:ext cx="4526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22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same track can appear in more than one playlist.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3544" y="5349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 genre comparisons, I kept each song once per genre.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82512" y="2514600"/>
            <a:ext cx="2249424" cy="301752"/>
          </a:xfrm>
          <a:prstGeom prst="roundRect">
            <a:avLst/>
          </a:prstGeom>
          <a:solidFill>
            <a:srgbClr val="FBF0BA"/>
          </a:solidFill>
          <a:ln w="7620">
            <a:solidFill>
              <a:srgbClr val="173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2546604"/>
            <a:ext cx="2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 •  NEW MOOD GROUPS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82512" y="2907792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audio features  →  4 groups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6391656" y="3364992"/>
            <a:ext cx="4956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3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Valence = positivity   •   Energy = intensity</a:t>
            </a:r>
            <a:endParaRPr lang="en-US" sz="1230" dirty="0"/>
          </a:p>
        </p:txBody>
      </p:sp>
      <p:sp>
        <p:nvSpPr>
          <p:cNvPr id="32" name="Shape 30"/>
          <p:cNvSpPr/>
          <p:nvPr/>
        </p:nvSpPr>
        <p:spPr>
          <a:xfrm>
            <a:off x="6528816" y="3867912"/>
            <a:ext cx="2258568" cy="685800"/>
          </a:xfrm>
          <a:prstGeom prst="rect">
            <a:avLst/>
          </a:prstGeom>
          <a:solidFill>
            <a:srgbClr val="F8D8D3"/>
          </a:solidFill>
          <a:ln w="12700">
            <a:solidFill>
              <a:srgbClr val="F8D8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87384" y="3867912"/>
            <a:ext cx="2258568" cy="685800"/>
          </a:xfrm>
          <a:prstGeom prst="rect">
            <a:avLst/>
          </a:prstGeom>
          <a:solidFill>
            <a:srgbClr val="FEF0B4"/>
          </a:solidFill>
          <a:ln w="12700">
            <a:solidFill>
              <a:srgbClr val="FEF0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28816" y="4553712"/>
            <a:ext cx="2258568" cy="685800"/>
          </a:xfrm>
          <a:prstGeom prst="rect">
            <a:avLst/>
          </a:prstGeom>
          <a:solidFill>
            <a:srgbClr val="E3DDF4"/>
          </a:solidFill>
          <a:ln w="12700">
            <a:solidFill>
              <a:srgbClr val="E3DD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87384" y="4553712"/>
            <a:ext cx="2258568" cy="685800"/>
          </a:xfrm>
          <a:prstGeom prst="rect">
            <a:avLst/>
          </a:prstGeom>
          <a:solidFill>
            <a:srgbClr val="DDF0F2"/>
          </a:solidFill>
          <a:ln w="12700">
            <a:solidFill>
              <a:srgbClr val="DDF0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87384" y="3867912"/>
            <a:ext cx="0" cy="1371600"/>
          </a:xfrm>
          <a:prstGeom prst="line">
            <a:avLst/>
          </a:prstGeom>
          <a:noFill/>
          <a:ln w="38100">
            <a:solidFill>
              <a:srgbClr val="FBFB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28816" y="4553712"/>
            <a:ext cx="4517136" cy="0"/>
          </a:xfrm>
          <a:prstGeom prst="line">
            <a:avLst/>
          </a:prstGeom>
          <a:noFill/>
          <a:ln w="38100">
            <a:solidFill>
              <a:srgbClr val="FBFB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02552" y="40599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Angry / Tense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842248" y="4059936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Happy / Energetic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6739128" y="472744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Sad / Mellow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851392" y="4727448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Chill / Content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91656" y="544068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3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0.5 cutoff on each 0–1 feature; a useful grouping, not a mood rating.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347472"/>
            <a:ext cx="118872" cy="118872"/>
          </a:xfrm>
          <a:prstGeom prst="ellipse">
            <a:avLst/>
          </a:prstGeom>
          <a:solidFill>
            <a:srgbClr val="173B2A"/>
          </a:solidFill>
          <a:ln w="12700">
            <a:solidFill>
              <a:srgbClr val="173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25603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CMSE 830   /   SPOTIFY MOOD EXPLORER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204704" y="219456"/>
            <a:ext cx="1417320" cy="402336"/>
          </a:xfrm>
          <a:prstGeom prst="roundRect">
            <a:avLst/>
          </a:prstGeom>
          <a:solidFill>
            <a:srgbClr val="FBFBF7"/>
          </a:solidFill>
          <a:ln w="13970">
            <a:solidFill>
              <a:srgbClr val="173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51008" y="265176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MIDTERM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5216" y="804672"/>
            <a:ext cx="11009376" cy="0"/>
          </a:xfrm>
          <a:prstGeom prst="line">
            <a:avLst/>
          </a:prstGeom>
          <a:noFill/>
          <a:ln w="12700">
            <a:solidFill>
              <a:srgbClr val="C7D0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332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 /  EXPLORATION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261872"/>
            <a:ext cx="109910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genre can have more than one vibe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0080" y="1810512"/>
            <a:ext cx="10881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Percentage of tracks in each mood group, counted once per genre.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6446520"/>
            <a:ext cx="11009376" cy="0"/>
          </a:xfrm>
          <a:prstGeom prst="line">
            <a:avLst/>
          </a:prstGeom>
          <a:noFill/>
          <a:ln w="10160">
            <a:solidFill>
              <a:srgbClr val="C7D0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spc="30" kern="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DOES THIS SONG FEEL LIKE THAT?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10680192" y="650138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/ 05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32104" y="2249424"/>
            <a:ext cx="146304" cy="146304"/>
          </a:xfrm>
          <a:prstGeom prst="ellipse">
            <a:avLst/>
          </a:prstGeom>
          <a:solidFill>
            <a:srgbClr val="8072BB"/>
          </a:solidFill>
          <a:ln w="12700">
            <a:solidFill>
              <a:srgbClr val="8072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235708"/>
            <a:ext cx="1536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Sad / mellow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916936" y="2249424"/>
            <a:ext cx="146304" cy="146304"/>
          </a:xfrm>
          <a:prstGeom prst="ellipse">
            <a:avLst/>
          </a:prstGeom>
          <a:solidFill>
            <a:srgbClr val="E6634C"/>
          </a:solidFill>
          <a:ln w="12700">
            <a:solidFill>
              <a:srgbClr val="E663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2235708"/>
            <a:ext cx="1536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Angry / tense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937760" y="2249424"/>
            <a:ext cx="146304" cy="146304"/>
          </a:xfrm>
          <a:prstGeom prst="ellipse">
            <a:avLst/>
          </a:prstGeom>
          <a:solidFill>
            <a:srgbClr val="62B1C3"/>
          </a:solidFill>
          <a:ln w="12700">
            <a:solidFill>
              <a:srgbClr val="62B1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2235708"/>
            <a:ext cx="1536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Chill / content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031736" y="2249424"/>
            <a:ext cx="146304" cy="146304"/>
          </a:xfrm>
          <a:prstGeom prst="ellipse">
            <a:avLst/>
          </a:prstGeom>
          <a:solidFill>
            <a:srgbClr val="F2DC64"/>
          </a:solidFill>
          <a:ln w="12700">
            <a:solidFill>
              <a:srgbClr val="F2DC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51192" y="2235708"/>
            <a:ext cx="14721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Happy / energetic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1581912" y="2624328"/>
            <a:ext cx="0" cy="3035808"/>
          </a:xfrm>
          <a:prstGeom prst="line">
            <a:avLst/>
          </a:prstGeom>
          <a:noFill/>
          <a:ln w="6604">
            <a:solidFill>
              <a:srgbClr val="C7D0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0744" y="575157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71266" y="2624328"/>
            <a:ext cx="0" cy="3035808"/>
          </a:xfrm>
          <a:prstGeom prst="line">
            <a:avLst/>
          </a:prstGeom>
          <a:noFill/>
          <a:ln w="6604">
            <a:solidFill>
              <a:srgbClr val="C7D0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70098" y="575157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60620" y="2624328"/>
            <a:ext cx="0" cy="3035808"/>
          </a:xfrm>
          <a:prstGeom prst="line">
            <a:avLst/>
          </a:prstGeom>
          <a:noFill/>
          <a:ln w="6604">
            <a:solidFill>
              <a:srgbClr val="C7D0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9452" y="575157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49974" y="2624328"/>
            <a:ext cx="0" cy="3035808"/>
          </a:xfrm>
          <a:prstGeom prst="line">
            <a:avLst/>
          </a:prstGeom>
          <a:noFill/>
          <a:ln w="6604">
            <a:solidFill>
              <a:srgbClr val="C7D0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8806" y="575157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39328" y="2624328"/>
            <a:ext cx="0" cy="3035808"/>
          </a:xfrm>
          <a:prstGeom prst="line">
            <a:avLst/>
          </a:prstGeom>
          <a:noFill/>
          <a:ln w="6604">
            <a:solidFill>
              <a:srgbClr val="C7D0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575157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6384" y="278892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EDM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581912" y="2807208"/>
            <a:ext cx="194046" cy="365760"/>
          </a:xfrm>
          <a:prstGeom prst="rect">
            <a:avLst/>
          </a:prstGeom>
          <a:solidFill>
            <a:srgbClr val="8072BB"/>
          </a:solidFill>
          <a:ln w="12700">
            <a:solidFill>
              <a:srgbClr val="8072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75958" y="2807208"/>
            <a:ext cx="4294628" cy="365760"/>
          </a:xfrm>
          <a:prstGeom prst="rect">
            <a:avLst/>
          </a:prstGeom>
          <a:solidFill>
            <a:srgbClr val="E6634C"/>
          </a:solidFill>
          <a:ln w="12700">
            <a:solidFill>
              <a:srgbClr val="E6634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70586" y="2807208"/>
            <a:ext cx="75663" cy="365760"/>
          </a:xfrm>
          <a:prstGeom prst="rect">
            <a:avLst/>
          </a:prstGeom>
          <a:solidFill>
            <a:srgbClr val="62B1C3"/>
          </a:solidFill>
          <a:ln w="12700">
            <a:solidFill>
              <a:srgbClr val="62B1C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46249" y="2807208"/>
            <a:ext cx="2193079" cy="365760"/>
          </a:xfrm>
          <a:prstGeom prst="rect">
            <a:avLst/>
          </a:prstGeom>
          <a:solidFill>
            <a:srgbClr val="F2DC64"/>
          </a:solidFill>
          <a:ln w="12700">
            <a:solidFill>
              <a:srgbClr val="F2DC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325526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Latin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1581912" y="3273552"/>
            <a:ext cx="397498" cy="365760"/>
          </a:xfrm>
          <a:prstGeom prst="rect">
            <a:avLst/>
          </a:prstGeom>
          <a:solidFill>
            <a:srgbClr val="8072BB"/>
          </a:solidFill>
          <a:ln w="12700">
            <a:solidFill>
              <a:srgbClr val="8072B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79410" y="3273552"/>
            <a:ext cx="1827313" cy="365760"/>
          </a:xfrm>
          <a:prstGeom prst="rect">
            <a:avLst/>
          </a:prstGeom>
          <a:solidFill>
            <a:srgbClr val="E6634C"/>
          </a:solidFill>
          <a:ln w="12700">
            <a:solidFill>
              <a:srgbClr val="E6634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06724" y="3273552"/>
            <a:ext cx="275189" cy="365760"/>
          </a:xfrm>
          <a:prstGeom prst="rect">
            <a:avLst/>
          </a:prstGeom>
          <a:solidFill>
            <a:srgbClr val="62B1C3"/>
          </a:solidFill>
          <a:ln w="12700">
            <a:solidFill>
              <a:srgbClr val="62B1C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81913" y="3273552"/>
            <a:ext cx="4257422" cy="365760"/>
          </a:xfrm>
          <a:prstGeom prst="rect">
            <a:avLst/>
          </a:prstGeom>
          <a:solidFill>
            <a:srgbClr val="F2DC64"/>
          </a:solidFill>
          <a:ln w="12700">
            <a:solidFill>
              <a:srgbClr val="F2DC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" y="372160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Pop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581912" y="3739896"/>
            <a:ext cx="693912" cy="365760"/>
          </a:xfrm>
          <a:prstGeom prst="rect">
            <a:avLst/>
          </a:prstGeom>
          <a:solidFill>
            <a:srgbClr val="8072BB"/>
          </a:solidFill>
          <a:ln w="12700">
            <a:solidFill>
              <a:srgbClr val="8072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75824" y="3739896"/>
            <a:ext cx="2699277" cy="365760"/>
          </a:xfrm>
          <a:prstGeom prst="rect">
            <a:avLst/>
          </a:prstGeom>
          <a:solidFill>
            <a:srgbClr val="E6634C"/>
          </a:solidFill>
          <a:ln w="12700">
            <a:solidFill>
              <a:srgbClr val="E6634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75101" y="3739896"/>
            <a:ext cx="243591" cy="365760"/>
          </a:xfrm>
          <a:prstGeom prst="rect">
            <a:avLst/>
          </a:prstGeom>
          <a:solidFill>
            <a:srgbClr val="62B1C3"/>
          </a:solidFill>
          <a:ln w="12700">
            <a:solidFill>
              <a:srgbClr val="62B1C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8692" y="3739896"/>
            <a:ext cx="3120629" cy="365760"/>
          </a:xfrm>
          <a:prstGeom prst="rect">
            <a:avLst/>
          </a:prstGeom>
          <a:solidFill>
            <a:srgbClr val="F2DC64"/>
          </a:solidFill>
          <a:ln w="12700">
            <a:solidFill>
              <a:srgbClr val="F2DC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6384" y="418795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R&amp;B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1581912" y="4206240"/>
            <a:ext cx="1316500" cy="365760"/>
          </a:xfrm>
          <a:prstGeom prst="rect">
            <a:avLst/>
          </a:prstGeom>
          <a:solidFill>
            <a:srgbClr val="8072BB"/>
          </a:solidFill>
          <a:ln w="12700">
            <a:solidFill>
              <a:srgbClr val="8072B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98412" y="4206240"/>
            <a:ext cx="1649242" cy="365760"/>
          </a:xfrm>
          <a:prstGeom prst="rect">
            <a:avLst/>
          </a:prstGeom>
          <a:solidFill>
            <a:srgbClr val="E6634C"/>
          </a:solidFill>
          <a:ln w="12700">
            <a:solidFill>
              <a:srgbClr val="E6634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47654" y="4206240"/>
            <a:ext cx="723354" cy="365760"/>
          </a:xfrm>
          <a:prstGeom prst="rect">
            <a:avLst/>
          </a:prstGeom>
          <a:solidFill>
            <a:srgbClr val="62B1C3"/>
          </a:solidFill>
          <a:ln w="12700">
            <a:solidFill>
              <a:srgbClr val="62B1C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71008" y="4206240"/>
            <a:ext cx="3068326" cy="365760"/>
          </a:xfrm>
          <a:prstGeom prst="rect">
            <a:avLst/>
          </a:prstGeom>
          <a:solidFill>
            <a:srgbClr val="F2DC64"/>
          </a:solidFill>
          <a:ln w="12700">
            <a:solidFill>
              <a:srgbClr val="F2DC6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6384" y="4654296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Rap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1581912" y="4672584"/>
            <a:ext cx="761223" cy="365760"/>
          </a:xfrm>
          <a:prstGeom prst="rect">
            <a:avLst/>
          </a:prstGeom>
          <a:solidFill>
            <a:srgbClr val="8072BB"/>
          </a:solidFill>
          <a:ln w="12700">
            <a:solidFill>
              <a:srgbClr val="8072B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43135" y="4672584"/>
            <a:ext cx="2451199" cy="365760"/>
          </a:xfrm>
          <a:prstGeom prst="rect">
            <a:avLst/>
          </a:prstGeom>
          <a:solidFill>
            <a:srgbClr val="E6634C"/>
          </a:solidFill>
          <a:ln w="12700">
            <a:solidFill>
              <a:srgbClr val="E6634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94334" y="4672584"/>
            <a:ext cx="460680" cy="365760"/>
          </a:xfrm>
          <a:prstGeom prst="rect">
            <a:avLst/>
          </a:prstGeom>
          <a:solidFill>
            <a:srgbClr val="62B1C3"/>
          </a:solidFill>
          <a:ln w="12700">
            <a:solidFill>
              <a:srgbClr val="62B1C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55014" y="4672584"/>
            <a:ext cx="3084321" cy="365760"/>
          </a:xfrm>
          <a:prstGeom prst="rect">
            <a:avLst/>
          </a:prstGeom>
          <a:solidFill>
            <a:srgbClr val="F2DC64"/>
          </a:solidFill>
          <a:ln w="12700">
            <a:solidFill>
              <a:srgbClr val="F2DC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6384" y="512064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Rock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1581912" y="5138928"/>
            <a:ext cx="649780" cy="365760"/>
          </a:xfrm>
          <a:prstGeom prst="rect">
            <a:avLst/>
          </a:prstGeom>
          <a:solidFill>
            <a:srgbClr val="8072BB"/>
          </a:solidFill>
          <a:ln w="12700">
            <a:solidFill>
              <a:srgbClr val="8072B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31692" y="5138928"/>
            <a:ext cx="2385057" cy="365760"/>
          </a:xfrm>
          <a:prstGeom prst="rect">
            <a:avLst/>
          </a:prstGeom>
          <a:solidFill>
            <a:srgbClr val="E6634C"/>
          </a:solidFill>
          <a:ln w="12700">
            <a:solidFill>
              <a:srgbClr val="E6634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16749" y="5138928"/>
            <a:ext cx="317301" cy="365760"/>
          </a:xfrm>
          <a:prstGeom prst="rect">
            <a:avLst/>
          </a:prstGeom>
          <a:solidFill>
            <a:srgbClr val="62B1C3"/>
          </a:solidFill>
          <a:ln w="12700">
            <a:solidFill>
              <a:srgbClr val="62B1C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34050" y="5138928"/>
            <a:ext cx="3405278" cy="365760"/>
          </a:xfrm>
          <a:prstGeom prst="rect">
            <a:avLst/>
          </a:prstGeom>
          <a:solidFill>
            <a:srgbClr val="F2DC64"/>
          </a:solidFill>
          <a:ln w="12700">
            <a:solidFill>
              <a:srgbClr val="F2DC6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14816" y="2167128"/>
            <a:ext cx="2788920" cy="3611880"/>
          </a:xfrm>
          <a:prstGeom prst="roundRect">
            <a:avLst/>
          </a:prstGeom>
          <a:solidFill>
            <a:srgbClr val="FBFBF7"/>
          </a:solidFill>
          <a:ln w="14605">
            <a:solidFill>
              <a:srgbClr val="173B2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79992" y="2414016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QUICK TAKE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070848" y="2779776"/>
            <a:ext cx="2258568" cy="0"/>
          </a:xfrm>
          <a:prstGeom prst="line">
            <a:avLst/>
          </a:prstGeom>
          <a:noFill/>
          <a:ln w="10160">
            <a:solidFill>
              <a:srgbClr val="C7D0C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070848" y="2852928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84.8%</a:t>
            </a:r>
            <a:endParaRPr lang="en-US" sz="3000" dirty="0"/>
          </a:p>
        </p:txBody>
      </p:sp>
      <p:sp>
        <p:nvSpPr>
          <p:cNvPr id="65" name="Text 63"/>
          <p:cNvSpPr/>
          <p:nvPr/>
        </p:nvSpPr>
        <p:spPr>
          <a:xfrm>
            <a:off x="9070848" y="3355848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 unique songs are high-energy</a:t>
            </a:r>
            <a:endParaRPr lang="en-US" sz="1110" dirty="0"/>
          </a:p>
        </p:txBody>
      </p:sp>
      <p:sp>
        <p:nvSpPr>
          <p:cNvPr id="66" name="Shape 64"/>
          <p:cNvSpPr/>
          <p:nvPr/>
        </p:nvSpPr>
        <p:spPr>
          <a:xfrm>
            <a:off x="9070848" y="3803904"/>
            <a:ext cx="2258568" cy="0"/>
          </a:xfrm>
          <a:prstGeom prst="line">
            <a:avLst/>
          </a:prstGeom>
          <a:noFill/>
          <a:ln w="10160">
            <a:solidFill>
              <a:srgbClr val="C7D0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70848" y="386791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63.6%</a:t>
            </a:r>
            <a:endParaRPr lang="en-US" sz="2900" dirty="0"/>
          </a:p>
        </p:txBody>
      </p:sp>
      <p:sp>
        <p:nvSpPr>
          <p:cNvPr id="68" name="Text 66"/>
          <p:cNvSpPr/>
          <p:nvPr/>
        </p:nvSpPr>
        <p:spPr>
          <a:xfrm>
            <a:off x="9070848" y="4361688"/>
            <a:ext cx="2221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EDM: angry / tense</a:t>
            </a:r>
            <a:endParaRPr lang="en-US" sz="1120" dirty="0"/>
          </a:p>
        </p:txBody>
      </p:sp>
      <p:sp>
        <p:nvSpPr>
          <p:cNvPr id="69" name="Shape 67"/>
          <p:cNvSpPr/>
          <p:nvPr/>
        </p:nvSpPr>
        <p:spPr>
          <a:xfrm>
            <a:off x="9070848" y="4727448"/>
            <a:ext cx="2258568" cy="0"/>
          </a:xfrm>
          <a:prstGeom prst="line">
            <a:avLst/>
          </a:prstGeom>
          <a:noFill/>
          <a:ln w="10160">
            <a:solidFill>
              <a:srgbClr val="C7D0C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70848" y="4773168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63.0%</a:t>
            </a:r>
            <a:endParaRPr lang="en-US" sz="2900" dirty="0"/>
          </a:p>
        </p:txBody>
      </p:sp>
      <p:sp>
        <p:nvSpPr>
          <p:cNvPr id="71" name="Text 69"/>
          <p:cNvSpPr/>
          <p:nvPr/>
        </p:nvSpPr>
        <p:spPr>
          <a:xfrm>
            <a:off x="9070848" y="52760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Latin: happy / energetic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713232" y="6108192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Mood here means valence + energy buckets, not listeners’ reported emotions.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347472"/>
            <a:ext cx="118872" cy="118872"/>
          </a:xfrm>
          <a:prstGeom prst="ellipse">
            <a:avLst/>
          </a:prstGeom>
          <a:solidFill>
            <a:srgbClr val="173B2A"/>
          </a:solidFill>
          <a:ln w="12700">
            <a:solidFill>
              <a:srgbClr val="173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25603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CMSE 830   /   SPOTIFY MOOD EXPLORER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204704" y="219456"/>
            <a:ext cx="1417320" cy="402336"/>
          </a:xfrm>
          <a:prstGeom prst="roundRect">
            <a:avLst/>
          </a:prstGeom>
          <a:solidFill>
            <a:srgbClr val="FBFBF7"/>
          </a:solidFill>
          <a:ln w="13970">
            <a:solidFill>
              <a:srgbClr val="173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51008" y="265176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MIDTERM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5216" y="804672"/>
            <a:ext cx="11009376" cy="0"/>
          </a:xfrm>
          <a:prstGeom prst="line">
            <a:avLst/>
          </a:prstGeom>
          <a:noFill/>
          <a:ln w="12700">
            <a:solidFill>
              <a:srgbClr val="C7D0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332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 /  STREAMLIT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261872"/>
            <a:ext cx="109910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the EDA to a song finder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0080" y="1810512"/>
            <a:ext cx="10881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is the working local prototype. The filters update both the map and the song list.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6446520"/>
            <a:ext cx="11009376" cy="0"/>
          </a:xfrm>
          <a:prstGeom prst="line">
            <a:avLst/>
          </a:prstGeom>
          <a:noFill/>
          <a:ln w="10160">
            <a:solidFill>
              <a:srgbClr val="C7D0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spc="30" kern="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DOES THIS SONG FEEL LIKE THAT?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10680192" y="650138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 / 05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" y="2276856"/>
            <a:ext cx="7854696" cy="3822192"/>
          </a:xfrm>
          <a:prstGeom prst="roundRect">
            <a:avLst/>
          </a:prstGeom>
          <a:solidFill>
            <a:srgbClr val="141C19"/>
          </a:solidFill>
          <a:ln w="15240">
            <a:solidFill>
              <a:srgbClr val="173B2A"/>
            </a:solidFill>
            <a:prstDash val="solid"/>
          </a:ln>
        </p:spPr>
      </p:sp>
      <p:pic>
        <p:nvPicPr>
          <p:cNvPr id="14" name="Image 0" descr="/mnt/data/_spotify_slides/app_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31720"/>
            <a:ext cx="7744968" cy="371246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796528" y="2313432"/>
            <a:ext cx="2560320" cy="301752"/>
          </a:xfrm>
          <a:prstGeom prst="roundRect">
            <a:avLst/>
          </a:prstGeom>
          <a:solidFill>
            <a:srgbClr val="FBF0BA"/>
          </a:solidFill>
          <a:ln w="7620">
            <a:solidFill>
              <a:srgbClr val="173B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87968" y="23454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WORKING PROTOTYPE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796528" y="28529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589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208008" y="283464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Pick a mood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217152" y="3182112"/>
            <a:ext cx="2404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Happy, mellow, chill or tense.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796528" y="3657600"/>
            <a:ext cx="2670048" cy="0"/>
          </a:xfrm>
          <a:prstGeom prst="line">
            <a:avLst/>
          </a:prstGeom>
          <a:noFill/>
          <a:ln w="10160">
            <a:solidFill>
              <a:srgbClr val="C7D0C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96528" y="37764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589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208008" y="3758184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Narrow the list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9217152" y="4105656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Genre + popularity filters.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796528" y="4599432"/>
            <a:ext cx="2670048" cy="0"/>
          </a:xfrm>
          <a:prstGeom prst="line">
            <a:avLst/>
          </a:prstGeom>
          <a:noFill/>
          <a:ln w="10160">
            <a:solidFill>
              <a:srgbClr val="C7D0C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96528" y="47091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589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208008" y="469087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See the matches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9217152" y="50474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Mood map and playlist table.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814816" y="5596128"/>
            <a:ext cx="2770632" cy="457200"/>
          </a:xfrm>
          <a:prstGeom prst="roundRect">
            <a:avLst/>
          </a:prstGeom>
          <a:solidFill>
            <a:srgbClr val="F2DC64"/>
          </a:solidFill>
          <a:ln w="12700">
            <a:solidFill>
              <a:srgbClr val="F2DC6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025128" y="568756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DEMO  →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347472"/>
            <a:ext cx="118872" cy="118872"/>
          </a:xfrm>
          <a:prstGeom prst="ellipse">
            <a:avLst/>
          </a:prstGeom>
          <a:solidFill>
            <a:srgbClr val="173B2A"/>
          </a:solidFill>
          <a:ln w="12700">
            <a:solidFill>
              <a:srgbClr val="173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25603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CMSE 830   /   SPOTIFY MOOD EXPLORER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204704" y="219456"/>
            <a:ext cx="1417320" cy="402336"/>
          </a:xfrm>
          <a:prstGeom prst="roundRect">
            <a:avLst/>
          </a:prstGeom>
          <a:solidFill>
            <a:srgbClr val="FBFBF7"/>
          </a:solidFill>
          <a:ln w="13970">
            <a:solidFill>
              <a:srgbClr val="173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51008" y="265176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MIDTERM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5216" y="804672"/>
            <a:ext cx="11009376" cy="0"/>
          </a:xfrm>
          <a:prstGeom prst="line">
            <a:avLst/>
          </a:prstGeom>
          <a:noFill/>
          <a:ln w="12700">
            <a:solidFill>
              <a:srgbClr val="C7D0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332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  /  REFLECTION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261872"/>
            <a:ext cx="109910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the app can’t tell us (yet)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0080" y="1810512"/>
            <a:ext cx="10881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Useful for exploring a vibe — but not a universal definition of mood.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6446520"/>
            <a:ext cx="11009376" cy="0"/>
          </a:xfrm>
          <a:prstGeom prst="line">
            <a:avLst/>
          </a:prstGeom>
          <a:noFill/>
          <a:ln w="10160">
            <a:solidFill>
              <a:srgbClr val="C7D0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spc="30" kern="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DOES THIS SONG FEEL LIKE THAT?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10680192" y="650138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05 / 05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" y="2249424"/>
            <a:ext cx="5221224" cy="3483864"/>
          </a:xfrm>
          <a:prstGeom prst="roundRect">
            <a:avLst/>
          </a:prstGeom>
          <a:solidFill>
            <a:srgbClr val="FBFBF7"/>
          </a:solidFill>
          <a:ln w="14986">
            <a:solidFill>
              <a:srgbClr val="173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2249424"/>
            <a:ext cx="5413248" cy="3483864"/>
          </a:xfrm>
          <a:prstGeom prst="roundRect">
            <a:avLst/>
          </a:prstGeom>
          <a:solidFill>
            <a:srgbClr val="FBFBF7"/>
          </a:solidFill>
          <a:ln w="14986">
            <a:solidFill>
              <a:srgbClr val="173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" y="2478024"/>
            <a:ext cx="1563624" cy="301752"/>
          </a:xfrm>
          <a:prstGeom prst="roundRect">
            <a:avLst/>
          </a:prstGeom>
          <a:solidFill>
            <a:srgbClr val="FBF0BA"/>
          </a:solidFill>
          <a:ln w="7620">
            <a:solidFill>
              <a:srgbClr val="173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2510028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2478024"/>
            <a:ext cx="2834640" cy="301752"/>
          </a:xfrm>
          <a:prstGeom prst="roundRect">
            <a:avLst/>
          </a:prstGeom>
          <a:solidFill>
            <a:srgbClr val="FBF0BA"/>
          </a:solidFill>
          <a:ln w="7620">
            <a:solidFill>
              <a:srgbClr val="173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5100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" kern="0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I WANT TO BUILD NEXT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3544" y="3072384"/>
            <a:ext cx="109728" cy="109728"/>
          </a:xfrm>
          <a:prstGeom prst="ellipse">
            <a:avLst/>
          </a:prstGeom>
          <a:solidFill>
            <a:srgbClr val="E6634C"/>
          </a:solidFill>
          <a:ln w="12700">
            <a:solidFill>
              <a:srgbClr val="E663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2971800"/>
            <a:ext cx="4315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actual emotions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52144" y="3319272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groups come from two audio features, not listener ratings.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923544" y="3995928"/>
            <a:ext cx="109728" cy="109728"/>
          </a:xfrm>
          <a:prstGeom prst="ellipse">
            <a:avLst/>
          </a:prstGeom>
          <a:solidFill>
            <a:srgbClr val="758976"/>
          </a:solidFill>
          <a:ln w="12700">
            <a:solidFill>
              <a:srgbClr val="7589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3895344"/>
            <a:ext cx="4315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Playlist genres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52144" y="4242816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playlist tag isn’t necessarily a track’s only genre.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923544" y="4919472"/>
            <a:ext cx="109728" cy="109728"/>
          </a:xfrm>
          <a:prstGeom prst="ellipse">
            <a:avLst/>
          </a:prstGeom>
          <a:solidFill>
            <a:srgbClr val="8072BB"/>
          </a:solidFill>
          <a:ln w="12700">
            <a:solidFill>
              <a:srgbClr val="8072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4818888"/>
            <a:ext cx="4315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Still a starting point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52144" y="5166360"/>
            <a:ext cx="4297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set of playlists does not represent all music.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400800" y="3072384"/>
            <a:ext cx="109728" cy="109728"/>
          </a:xfrm>
          <a:prstGeom prst="ellipse">
            <a:avLst/>
          </a:prstGeom>
          <a:solidFill>
            <a:srgbClr val="F2DC64"/>
          </a:solidFill>
          <a:ln w="12700">
            <a:solidFill>
              <a:srgbClr val="F2DC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2971800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Find similar songs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638544" y="3319272"/>
            <a:ext cx="43616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Start with one song and explore tracks with a similar vibe.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6400800" y="3995928"/>
            <a:ext cx="109728" cy="109728"/>
          </a:xfrm>
          <a:prstGeom prst="ellipse">
            <a:avLst/>
          </a:prstGeom>
          <a:solidFill>
            <a:srgbClr val="62B1C3"/>
          </a:solidFill>
          <a:ln w="12700">
            <a:solidFill>
              <a:srgbClr val="62B1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3895344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Handle genres better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638544" y="4242816"/>
            <a:ext cx="43616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Let songs belonging to multiple genres show up in each.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6400800" y="4919472"/>
            <a:ext cx="109728" cy="109728"/>
          </a:xfrm>
          <a:prstGeom prst="ellipse">
            <a:avLst/>
          </a:prstGeom>
          <a:solidFill>
            <a:srgbClr val="758976"/>
          </a:solidFill>
          <a:ln w="12700">
            <a:solidFill>
              <a:srgbClr val="7589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4818888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Improve the experience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638544" y="5166360"/>
            <a:ext cx="43616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" dirty="0">
                <a:solidFill>
                  <a:srgbClr val="53645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Try it with a new user and make the controls clearer.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667512" y="5879592"/>
            <a:ext cx="10881360" cy="393192"/>
          </a:xfrm>
          <a:prstGeom prst="roundRect">
            <a:avLst/>
          </a:prstGeom>
          <a:solidFill>
            <a:srgbClr val="FBF0BA"/>
          </a:solidFill>
          <a:ln w="12700">
            <a:solidFill>
              <a:srgbClr val="FBF0BA"/>
            </a:solidFill>
            <a:prstDash val="solid"/>
          </a:ln>
        </p:spPr>
      </p:sp>
      <p:sp>
        <p:nvSpPr>
          <p:cNvPr id="38" name="Text 36">
            <a:hlinkClick r:id="rId1" tooltip=""/>
          </p:cNvPr>
          <p:cNvSpPr/>
          <p:nvPr/>
        </p:nvSpPr>
        <p:spPr>
          <a:xfrm>
            <a:off x="859536" y="5961888"/>
            <a:ext cx="10341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173B2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 + DATA  →  github.com/aayushimalhotra3/cmse830-midterm-project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CMSE 830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Does This Song Feel Like That?</dc:title>
  <dc:subject>Preliminary Midterm Presentation: Spotify Mood Explorer</dc:subject>
  <dc:creator>CMSE 830 student project</dc:creator>
  <cp:lastModifiedBy>CMSE 830 student project</cp:lastModifiedBy>
  <cp:revision>1</cp:revision>
  <dcterms:created xsi:type="dcterms:W3CDTF">2026-10-17T00:42:55Z</dcterms:created>
  <dcterms:modified xsi:type="dcterms:W3CDTF">2026-10-17T00:42:55Z</dcterms:modified>
</cp:coreProperties>
</file>