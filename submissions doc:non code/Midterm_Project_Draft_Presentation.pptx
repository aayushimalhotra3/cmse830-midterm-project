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532"/>
    <p:restoredTop sz="94708"/>
  </p:normalViewPr>
  <p:slideViewPr>
    <p:cSldViewPr snapToGrid="0">
      <p:cViewPr varScale="1">
        <p:scale>
          <a:sx n="118" d="100"/>
          <a:sy n="118" d="100"/>
        </p:scale>
        <p:origin x="31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9AFE5-AA07-6396-9B04-59DC5134AB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73C5E5-BF4D-BBE0-96DA-B985FBD88D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57F57B-171F-C5CB-E5A5-D6F26C555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F85F-FA20-2440-9073-8C4E6F56057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BB1E4C-6131-4181-CB08-987F6375B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ECBB6-B651-8F6D-E90E-BD7BB60AF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503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CB63E-86FF-1F20-5EE5-451B42C0A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5DF0A6-5726-0F0E-5A8D-CB3ECD955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E606EA-1188-7793-D4EC-1E4CEDD3E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F85F-FA20-2440-9073-8C4E6F56057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8E9BC0-CF79-77EA-80AB-5954523B4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C99881-361C-C560-5B7A-3EDA9837E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126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1356E-ED9B-5472-5E77-E2E636EEF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48BFB4-1ED7-C978-1FB1-987CA34B5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E931E-2D79-848B-E973-3FF249E2B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F85F-FA20-2440-9073-8C4E6F56057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70609C-9CCE-D94D-1B0F-B12EE354C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DFB21-054D-5C3B-9BAF-2114B10FD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612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2AEE2-6E12-D2BB-10D0-F24F9B253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21AC1-D88D-2913-C1A6-1EA09855CE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A25A2E-5AFA-1EF8-9026-B61A37F528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D766C7-0C3F-6BD4-22FA-36C0E919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F85F-FA20-2440-9073-8C4E6F56057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08CC56-96E7-9DA6-D395-8EABA643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A1E6D3-AA74-3B0E-32E6-E1EEECD3E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190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23241-F83F-25F2-5B1A-42A28B4AF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B79A45-43BD-A822-6DE5-9BB915A26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6E062-53FD-C125-DE8E-26B1E7320D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74C2A0-8F1F-B702-E568-9CFC7B6375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74BE1E-5EAF-0B52-9FED-3B6665C662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780993-9452-DC02-CA05-5715F0FF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F85F-FA20-2440-9073-8C4E6F56057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A4D0D4-05FB-2991-DA15-33E58E580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95589D-D40B-48E3-34E8-23A13CC3C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582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47637-DB0F-82B2-2C2A-9494E2031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CE86D5-75BE-BFCD-D14F-5D016EF7B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F85F-FA20-2440-9073-8C4E6F56057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DF26C1-6DFE-1063-2501-90C99C63F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6D313B-61DF-892E-D10A-BA8787ADF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985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61EF34-2877-8076-0F66-28D42630B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F85F-FA20-2440-9073-8C4E6F56057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F89F80-AE63-25EC-E009-F203BB83B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B41767-6871-81AA-849F-C1CD9CDA9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435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5FD58-2771-1739-9E84-D6ABCDC92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956EE-80A3-75D0-FCE5-227ABE81A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F4BE1B-9EB0-02B8-6E70-8206D33595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219C50-0F00-3E6E-B9A4-40E177FA3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F85F-FA20-2440-9073-8C4E6F56057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0049F9-0780-4A51-CCA4-D8BC63EE5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A6D5DD-0707-D035-9895-943AFD1E6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936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78091-98FA-B1A2-BA35-A9E292A2A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4020F2-4B9D-9C7C-12B9-C80542975D1C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411A50-BF34-89E5-3C17-A5EA0E93FB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718A5F-1C64-AB35-85C8-FCCE47F20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F85F-FA20-2440-9073-8C4E6F56057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25F8DB-00A8-C121-C307-89B963470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F42394-7CDF-7103-9C83-542C2F232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459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FE847-FE24-BBFB-203E-2FD98EB34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1A42B9-AD5C-BC83-9157-A6C98E5773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4A24AE-B98E-68C4-CB38-FBA1D2F07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F85F-FA20-2440-9073-8C4E6F56057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97E85-EDB4-06FB-AA01-D889EABB2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4AD36-1EBC-9482-71C3-FE2C4DF4A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4119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7621610-C742-CA2F-FB89-63516FD60E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FE0343-18DB-FECE-1BEB-7FC277AD76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618425-DA46-585F-C85F-16725B10C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FEF85F-FA20-2440-9073-8C4E6F56057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5298CC-7611-A236-0C21-05990709C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E03019-00B4-50CC-DDFC-9733CB286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7795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B98C31-4914-BF02-FA0E-A5823CDAA0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2B4188-B85A-10AC-FF42-3CEC03FAF1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FFF6-1024-47B1-5407-6BFDB79892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FEF85F-FA20-2440-9073-8C4E6F560575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0BFB73-C573-C22E-3F1C-0847588DAB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21DBA-F0D8-45F6-F1DF-A0946F9BA9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C67DB-987E-5A41-A1DE-F1AFAC9DB8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231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://github.com/aayushimalhotra3/cmse830-midterm-project" TargetMode="Externa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8198A-2C3F-9FF6-79E2-045B4F7D4F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Why does this song feel like that?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72E5DF-AD0F-F860-46AB-74B60CC0EB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Exploring Music Moods Through Spotify Audio Features</a:t>
            </a:r>
          </a:p>
          <a:p>
            <a:r>
              <a:rPr lang="en-US" sz="1800" dirty="0"/>
              <a:t>By Aayushi Malhotra for CMSE 830 </a:t>
            </a:r>
          </a:p>
        </p:txBody>
      </p:sp>
    </p:spTree>
    <p:extLst>
      <p:ext uri="{BB962C8B-B14F-4D97-AF65-F5344CB8AC3E}">
        <p14:creationId xmlns:p14="http://schemas.microsoft.com/office/powerpoint/2010/main" val="1255713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1EF814-06E4-B7D7-8132-FBB2AAF06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From Spotify Data to Music Moods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3E9AD11-1C4F-173B-0BAF-B27207DAFB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Cleaning the data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54EE848-422D-12E0-AF01-637B036DE2A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32,833 → 28,356 songs</a:t>
            </a:r>
          </a:p>
          <a:p>
            <a:pPr lvl="0"/>
            <a:r>
              <a:rPr lang="en-US" dirty="0"/>
              <a:t>Started with 32,833 rows and 23 columns.</a:t>
            </a:r>
          </a:p>
          <a:p>
            <a:pPr lvl="0"/>
            <a:r>
              <a:rPr lang="en-US" dirty="0"/>
              <a:t>Found 4,477 repeated track IDs.</a:t>
            </a:r>
          </a:p>
          <a:p>
            <a:pPr lvl="0"/>
            <a:r>
              <a:rPr lang="en-US" dirty="0"/>
              <a:t>Kept unique songs for feature analysis.</a:t>
            </a:r>
          </a:p>
          <a:p>
            <a:pPr lvl="0"/>
            <a:r>
              <a:rPr lang="en-US" dirty="0"/>
              <a:t>For genre comparisons, kept each song once per genre.</a:t>
            </a:r>
          </a:p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6E29CF9-3BF0-7DC3-B9B1-1FA5FE6D1F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Creating mood groups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113579B-5B13-8425-6F92-40B8ECFA68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357814" cy="368458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I used two Spotify audio features:</a:t>
            </a:r>
          </a:p>
          <a:p>
            <a:r>
              <a:rPr lang="en-US" dirty="0"/>
              <a:t>Valence: How positive a song sounds </a:t>
            </a:r>
            <a:br>
              <a:rPr lang="en-US" dirty="0"/>
            </a:br>
            <a:r>
              <a:rPr lang="en-US" dirty="0"/>
              <a:t>Energy: How intense a song sounds </a:t>
            </a:r>
          </a:p>
          <a:p>
            <a:r>
              <a:rPr lang="en-US" dirty="0"/>
              <a:t>Using 0.5 as the cutoff, I created four approximate mood groups:</a:t>
            </a:r>
          </a:p>
          <a:p>
            <a:pPr lvl="0"/>
            <a:r>
              <a:rPr lang="en-US" dirty="0"/>
              <a:t>Positive + Energetic</a:t>
            </a:r>
          </a:p>
          <a:p>
            <a:pPr lvl="0"/>
            <a:r>
              <a:rPr lang="en-US" dirty="0"/>
              <a:t>Positive + Calm</a:t>
            </a:r>
          </a:p>
          <a:p>
            <a:pPr lvl="0"/>
            <a:r>
              <a:rPr lang="en-US" dirty="0"/>
              <a:t>Negative + Energetic</a:t>
            </a:r>
          </a:p>
          <a:p>
            <a:pPr lvl="0"/>
            <a:r>
              <a:rPr lang="en-US" dirty="0"/>
              <a:t>Negative + Calm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27573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8AB70AA-B8DA-E478-BDF4-1563FF71E3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818" y="96573"/>
            <a:ext cx="7410364" cy="6664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7467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8B8A3-868C-85E4-EEA6-875F56AD5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38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/>
              <a:t>Does Genre Determine a Song’s Mood?</a:t>
            </a:r>
            <a:endParaRPr lang="en-US" dirty="0"/>
          </a:p>
        </p:txBody>
      </p:sp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F01DE86B-5C0E-E55C-76D6-0D06893BAF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1800" y="1254092"/>
            <a:ext cx="8788400" cy="434981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CB48A83-3F10-F37E-B83C-945EA8837AEF}"/>
              </a:ext>
            </a:extLst>
          </p:cNvPr>
          <p:cNvSpPr txBox="1"/>
          <p:nvPr/>
        </p:nvSpPr>
        <p:spPr>
          <a:xfrm>
            <a:off x="1435100" y="5411450"/>
            <a:ext cx="79248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Three things I found:</a:t>
            </a:r>
            <a:endParaRPr lang="en-US" sz="1400" dirty="0"/>
          </a:p>
          <a:p>
            <a:r>
              <a:rPr lang="en-US" sz="1400" b="1" dirty="0"/>
              <a:t>Genre explains only about 10% of how a song feels, only EDM really stands apart.</a:t>
            </a:r>
          </a:p>
          <a:p>
            <a:r>
              <a:rPr lang="en-US" sz="1400" b="1" dirty="0"/>
              <a:t>Popularity has almost no link to how a song sounds.</a:t>
            </a:r>
          </a:p>
          <a:p>
            <a:r>
              <a:rPr lang="en-US" sz="1400" b="1" dirty="0"/>
              <a:t>Music got sadder after 2013 while energy stayed high.</a:t>
            </a:r>
          </a:p>
          <a:p>
            <a:r>
              <a:rPr lang="en-US" sz="1400" i="1" dirty="0"/>
              <a:t>So mood beats genre and popularity for how a song feels.</a:t>
            </a:r>
            <a:endParaRPr lang="en-US" sz="14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1973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3639E-4F9E-CA7F-1CBC-B1B87638A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Find Your Vibe!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019188-48ED-406C-6262-7D4A9843B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i="1" dirty="0"/>
              <a:t>An interactive way to explore songs by how they feel, not just by genre or popularity.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Three main features</a:t>
            </a:r>
          </a:p>
          <a:p>
            <a:pPr marL="0" indent="0">
              <a:buNone/>
            </a:pPr>
            <a:r>
              <a:rPr lang="en-US" dirty="0"/>
              <a:t>01 - Find your vibe. Pick a mood, genre and popularity and explore the matches on a mood map.</a:t>
            </a:r>
          </a:p>
          <a:p>
            <a:pPr marL="0" indent="0">
              <a:buNone/>
            </a:pPr>
            <a:r>
              <a:rPr lang="en-US" dirty="0"/>
              <a:t>02 - See how mood changed over time. Music got sadder after 2013 but stayed just as energetic.</a:t>
            </a:r>
          </a:p>
          <a:p>
            <a:pPr marL="0" indent="0">
              <a:buNone/>
            </a:pPr>
            <a:r>
              <a:rPr lang="en-US" dirty="0"/>
              <a:t>03 - Find similar songs. Pick any song and get the closest matches by how they actually sound, across genres.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66552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4D455A-2184-964C-892F-504CFF2BF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CE1470-5A08-86DF-EEEC-BA75888FD9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748" b="7717"/>
          <a:stretch>
            <a:fillRect/>
          </a:stretch>
        </p:blipFill>
        <p:spPr>
          <a:xfrm>
            <a:off x="741576" y="417695"/>
            <a:ext cx="10708847" cy="602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9446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8A8B7-A5D3-25D9-44A2-F36650E41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Limitations &amp; What’s Next?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A6964E-758E-B9B4-6E5A-B4CFF26DC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Limitations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0E364-90AC-007E-0D5F-97B8AB525F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15912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Mood isn’t directly measured</a:t>
            </a:r>
          </a:p>
          <a:p>
            <a:pPr lvl="0"/>
            <a:r>
              <a:rPr lang="en-US" dirty="0"/>
              <a:t>Mood groups are based on valence and energy, not actual listener emotions.</a:t>
            </a:r>
          </a:p>
          <a:p>
            <a:r>
              <a:rPr lang="en-US" dirty="0"/>
              <a:t>Genres aren’t official labels</a:t>
            </a:r>
          </a:p>
          <a:p>
            <a:pPr lvl="0"/>
            <a:r>
              <a:rPr lang="en-US" dirty="0"/>
              <a:t>Songs are grouped using the playlists they appear in.</a:t>
            </a:r>
          </a:p>
          <a:p>
            <a:r>
              <a:rPr lang="en-US" dirty="0"/>
              <a:t>Dataset limitations</a:t>
            </a:r>
          </a:p>
          <a:p>
            <a:pPr lvl="0"/>
            <a:r>
              <a:rPr lang="en-US" dirty="0"/>
              <a:t>The dataset doesn’t represent every song on Spotify.</a:t>
            </a:r>
          </a:p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6D1A7C9-F288-D559-37AA-479FD630D9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Next Steps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D26BE97-7367-14D9-2217-4A21663943A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Add lyrics and emotion analysis</a:t>
            </a:r>
          </a:p>
          <a:p>
            <a:r>
              <a:rPr lang="en-US" dirty="0"/>
              <a:t>Compare how a song sounds vs how its lyrics read.</a:t>
            </a:r>
          </a:p>
          <a:p>
            <a:r>
              <a:rPr lang="en-US" dirty="0"/>
              <a:t>Cluster songs into vibes</a:t>
            </a:r>
          </a:p>
          <a:p>
            <a:r>
              <a:rPr lang="en-US" dirty="0"/>
              <a:t>Group songs automatically instead of fixed cutoffs.</a:t>
            </a:r>
          </a:p>
          <a:p>
            <a:r>
              <a:rPr lang="en-US" dirty="0"/>
              <a:t>Deploy the app</a:t>
            </a:r>
          </a:p>
          <a:p>
            <a:r>
              <a:rPr lang="en-US" dirty="0"/>
              <a:t>Put it online so anyone can try it.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C4735-F9AE-B838-57AC-62E129FB7B7B}"/>
              </a:ext>
            </a:extLst>
          </p:cNvPr>
          <p:cNvSpPr txBox="1"/>
          <p:nvPr/>
        </p:nvSpPr>
        <p:spPr>
          <a:xfrm>
            <a:off x="2648709" y="5832256"/>
            <a:ext cx="6697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GitHub: </a:t>
            </a:r>
            <a:r>
              <a:rPr lang="en-US" dirty="0">
                <a:hlinkClick r:id="rId2"/>
              </a:rPr>
              <a:t>github.com/aayushimalhotra3/cmse830-midterm-project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12718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07A996A-278E-1BE5-57BF-6A4E3CAFDC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You! </a:t>
            </a:r>
          </a:p>
        </p:txBody>
      </p:sp>
    </p:spTree>
    <p:extLst>
      <p:ext uri="{BB962C8B-B14F-4D97-AF65-F5344CB8AC3E}">
        <p14:creationId xmlns:p14="http://schemas.microsoft.com/office/powerpoint/2010/main" val="22645584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372</Words>
  <Application>Microsoft Macintosh PowerPoint</Application>
  <PresentationFormat>Widescreen</PresentationFormat>
  <Paragraphs>48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Why does this song feel like that?</vt:lpstr>
      <vt:lpstr>From Spotify Data to Music Moods</vt:lpstr>
      <vt:lpstr>PowerPoint Presentation</vt:lpstr>
      <vt:lpstr>Does Genre Determine a Song’s Mood?</vt:lpstr>
      <vt:lpstr>Find Your Vibe!</vt:lpstr>
      <vt:lpstr>PowerPoint Presentation</vt:lpstr>
      <vt:lpstr>Limitations &amp; What’s Next?</vt:lpstr>
      <vt:lpstr>Thank You!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Malhotra, Aayushi</dc:creator>
  <cp:lastModifiedBy>Malhotra, Aayushi</cp:lastModifiedBy>
  <cp:revision>4</cp:revision>
  <dcterms:created xsi:type="dcterms:W3CDTF">2026-10-17T00:47:06Z</dcterms:created>
  <dcterms:modified xsi:type="dcterms:W3CDTF">2026-10-21T22:29:06Z</dcterms:modified>
</cp:coreProperties>
</file>